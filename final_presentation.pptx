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hardikkamboj-sen1floods11-segmentation-appapp-jni2fg.streamlit.app/" TargetMode="External"/><Relationship Id="rId2" Type="http://schemas.openxmlformats.org/officeDocument/2006/relationships/hyperlink" Target="https://github.com/hardikkamboj" TargetMode="External"/><Relationship Id="rId3" Type="http://schemas.openxmlformats.org/officeDocument/2006/relationships/hyperlink" Target="https://huggingface.co/hardik56711/unet_flood_detection" TargetMode="External"/><Relationship Id="rId4" Type="http://schemas.openxmlformats.org/officeDocument/2006/relationships/hyperlink" Target="https://huggingface.co/hardik56711/segformer_flood_detection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80215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3367" y="0"/>
            <a:ext cx="338328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164592" cy="41148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78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CMSC 605  · 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Flood Segmentation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Sentinel-1 SAR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flood mapping from radar imagery using deep learning,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Sen1Floods11 benchmark (11 countries, 446 hand-labelled chips)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 Kamboj  ·  University of Maryland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(ResNet-34)   ·   SegFormer (MiT-B2)   ·   Live Streamlit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Floods: A Slow-Moving Catastrophe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are exposed to flooding than to any other natural hazard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6608" y="17830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608" y="1783080"/>
            <a:ext cx="329184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608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1.81 B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29488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exposed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 worldwide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49928" y="17830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9928" y="1783080"/>
            <a:ext cx="329184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9928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$ 82 B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632808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flood-related losses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3248" y="17830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248" y="1783080"/>
            <a:ext cx="329184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248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336128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natural-disaster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come from floods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floods uniquely hard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5138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evolve over hours, span hundreds of square kilometres, and their boundaries shift as the event unfolds. Roads close, ground crews can't reach the worst-hit areas, and decisions about evacuations and resources have to be made before anyone has a complete picture.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Pixel-Level Flood Detection Matters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 mask is the foundation of every downstream emergency-response decision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448" y="182880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8" y="1828800"/>
            <a:ext cx="128016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3768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06728" y="2103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response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06728" y="26060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rescue teams to flooded zones, identify cut-off communities, prioritise where to send boats and helicopters.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182880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28800"/>
            <a:ext cx="128016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7328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30288" y="2103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Evacuation planning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30288" y="26060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roads are passable, which neighbourhoods to clear, and how the flood front is moving in near-real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448" y="402336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448" y="4023360"/>
            <a:ext cx="128016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3768" y="4206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06728" y="4297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Damage assessment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06728" y="48006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affected built-up area, croplands, and infrastructure within hours of the event for insurance and aid.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4023360"/>
            <a:ext cx="5349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4023360"/>
            <a:ext cx="128016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7328" y="4206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30288" y="4297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planning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330288" y="48006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global archive of past inundations to inform flood-risk maps, zoning, and climate-adaptation policy.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pipelines start with the same question: which pixels are flooded?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Sensing — Eyes from Orbit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Earth-observing satellites turn flood mapping from a field-survey problem into an image-processing 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satellite image becomes a flood map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3134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060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image the same patch of ground every few days at 10–30 m resolution.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182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4747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Calibrate, geo-reference, and tile each scene into 512×512 chips.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40507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343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labels every pixel as flood or non-flood — producing a binary water mask.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9194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212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feed downstream tools: damage maps, evacuation, insurance triage.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1828800"/>
            <a:ext cx="4572000" cy="4434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1828800"/>
            <a:ext cx="4572000" cy="109728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 ·  the obvious choice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423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Sentinel-2  &amp;  Landsat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23760" y="306324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sensors that record reflected sunlight in the visible and near-infrared bands. They produce the colourful, photograph-like imagery most people recognise — high spatial detail and intuitive interpretation, with a 5–10 day revisit time at the equator.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reach for optical first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5029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— looks like a photograph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spatial detail (10 m / pixel)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global (Copernicus, USGS)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Catch — Optical Can't See Through Clouds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floods come bundled with the exact storms that produce cloud cover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61264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pic>
        <p:nvPicPr>
          <p:cNvPr id="9" name="Image 0" descr="/Users/hardikkamboj/Desktop/UMD/605/group_project/sample_images/cloud_cover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035040" cy="4526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6355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RGB  ·  Caracas, Venezuela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1783080"/>
            <a:ext cx="4572000" cy="4434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1783080"/>
            <a:ext cx="45720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failure modes for optical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223760" y="2560320"/>
            <a:ext cx="40233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block the view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0664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systems = cloud cover = useless pixels exactly when you need them.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3749040"/>
            <a:ext cx="40233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is invisible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0664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sensors need sunlight; half the planet is dark at any moment.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23760" y="4937760"/>
            <a:ext cx="40233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5047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 tropics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06640" y="5394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equatorial regions, useful clear-sky revisits can be days or weeks apart.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— A Different Kind of Sensor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microwave radar that doesn't depend on sunlight or clear skies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4754880" cy="4434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4754880" cy="109728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Aperture Radar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sends its own microwave pulse and listens for the echo. The strength of the return ("backscatter") depends on the surface roughness and dielectric properties — not on the sun.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4206240" cy="36576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74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374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374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4206240" cy="411480"/>
          </a:xfrm>
          <a:prstGeom prst="rect">
            <a:avLst/>
          </a:prstGeom>
          <a:solidFill>
            <a:srgbClr val="0A2540"/>
          </a:solidFill>
          <a:ln w="6350">
            <a:solidFill>
              <a:srgbClr val="0F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/ NIR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(5.4 GHz)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114800"/>
            <a:ext cx="4206240" cy="411480"/>
          </a:xfrm>
          <a:prstGeom prst="rect">
            <a:avLst/>
          </a:prstGeom>
          <a:solidFill>
            <a:srgbClr val="0F2E4A"/>
          </a:solidFill>
          <a:ln w="6350">
            <a:solidFill>
              <a:srgbClr val="0F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sunlight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transmits its own pulse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526280"/>
            <a:ext cx="4206240" cy="411480"/>
          </a:xfrm>
          <a:prstGeom prst="rect">
            <a:avLst/>
          </a:prstGeom>
          <a:solidFill>
            <a:srgbClr val="0A2540"/>
          </a:solidFill>
          <a:ln w="6350">
            <a:solidFill>
              <a:srgbClr val="0F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signal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Penetrates clouds &amp; light rain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4937760"/>
            <a:ext cx="4206240" cy="411480"/>
          </a:xfrm>
          <a:prstGeom prst="rect">
            <a:avLst/>
          </a:prstGeom>
          <a:solidFill>
            <a:srgbClr val="0F2E4A"/>
          </a:solidFill>
          <a:ln w="6350">
            <a:solidFill>
              <a:srgbClr val="0F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night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532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water = mirror.   Radar pulses bounce away from the satellite, so flooded pixels appear darker than land.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23560" y="1783080"/>
            <a:ext cx="61264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pic>
        <p:nvPicPr>
          <p:cNvPr id="34" name="Image 0" descr="/Users/hardikkamboj/Desktop/UMD/605/group_project/EDA/assets/multi_country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828800"/>
            <a:ext cx="6035040" cy="44348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669280" y="6263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chip, three views — SAR (left), optical (centre), flood label (right)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Sen1Floods11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hand-labelled chips spanning 11 countries and four continents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128016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385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hand-labelled chips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07792"/>
            <a:ext cx="128016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17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834640" y="3182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/ 4 continents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86784"/>
            <a:ext cx="128016" cy="9144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965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512²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834640" y="4261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chips @ 10 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065776"/>
            <a:ext cx="128016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17550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2-band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834640" y="53400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input  (VV + VH)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828800"/>
            <a:ext cx="6400800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828800"/>
            <a:ext cx="6400800" cy="109728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057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set  ·  10 countries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4960" y="2606040"/>
            <a:ext cx="3421681" cy="4572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16641" y="2606040"/>
            <a:ext cx="1208451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25091" y="2606040"/>
            <a:ext cx="1222029" cy="4572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108960"/>
            <a:ext cx="3421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252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16641" y="3108960"/>
            <a:ext cx="1208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· 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25091" y="3108960"/>
            <a:ext cx="1222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90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5204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chips are spread across 10 different countries so models are evaluated on broad geographic distribution.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0" y="4389120"/>
            <a:ext cx="6400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4389120"/>
            <a:ext cx="128016" cy="1874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526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Held-out test set  ·  Bolivia  ·  15 chips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49377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country is removed from training and never shown to the model until final evaluation. Performance on Bolivia answers the real question: does the model work in places it has never seen?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Flood and Land Are Separable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across 50 chips, the VV / VH distributions for flood vs land barely overlap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pic>
        <p:nvPicPr>
          <p:cNvPr id="9" name="Image 0" descr="/Users/hardikkamboj/Desktop/UMD/605/group_project/EDA/assets/band_distribu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10607040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4919472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4919472"/>
            <a:ext cx="109728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010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−7.3 dB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14400" y="5513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 mean separation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788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pixels average ~−17 dB on VV, dry land ~−10 dB. The gap is large enough that even a fixed threshold works as a baseline.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4919472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4919472"/>
            <a:ext cx="109728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5010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−8.6 dB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754880" y="5513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 mean separation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5788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Cross-pol VH adds an independent signal — particularly useful for separating flood from wet vegetation and rough soil.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321040" y="4919472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21040" y="4919472"/>
            <a:ext cx="109728" cy="1371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0" y="5010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595360" y="5513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overlap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95360" y="5788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 of flood and land overlap, and shift slightly across countries — a fixed rule will always misclassify some pixels.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— Step 1: A Classical Threshold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EDA finding directly: pick a VV threshold that splits flood from land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669280" cy="4434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5669280" cy="109728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 ·  fixed VV threshold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5120640" cy="1417320"/>
          </a:xfrm>
          <a:prstGeom prst="rect">
            <a:avLst/>
          </a:prstGeom>
          <a:solidFill>
            <a:srgbClr val="0F2E4A"/>
          </a:solidFill>
          <a:ln w="12700">
            <a:solidFill>
              <a:srgbClr val="0F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6974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VV  &lt;  −13.45 dB   →   flood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4F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VV  ≥  −13.45 dB   →   non-flood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chosen by sweeping values on the training set and picking the one that maximises F1.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parameters, zero training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strong floor any deep model must beat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the SAR signal alone carries most of the information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can't do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766560" y="233172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331720"/>
            <a:ext cx="10972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404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context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715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each pixel in isolation, ignoring shape and connectivity.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333756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3337560"/>
            <a:ext cx="10972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410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cutoff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threshold for every country — terrain shifts mean systematic errors.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434340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4343400"/>
            <a:ext cx="10972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416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texture cues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727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speckle pattern that distinguishes flood from low-bias urban shadow.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534924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5349240"/>
            <a:ext cx="10972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5422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not ceiling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5733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nothing on the harder cases. We need a learned model.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— Step 2: Deep Networks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same 252-chip training set, mixed-precision training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448" y="1828800"/>
            <a:ext cx="5349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8" y="1828800"/>
            <a:ext cx="53492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3768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3768" y="2514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83768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encoder · segmentation-models-pytorch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3768" y="37033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ResNet-34 backbone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encoder–decoder with skip connections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32  ·  Adam @ 3 × 10⁻³  ·  A100 GPU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Dice + BCE loss  ·  24.4 M params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5349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1828800"/>
            <a:ext cx="53492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328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07328" y="2514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SegFormer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07328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MiT-B2 backbone · HuggingFace Transformers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7328" y="37033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Mix-Transformer encoder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all-MLP decoder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16  ·  AdamW @ 6 × 10⁻⁵  ·  L4 GPU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self-attention from layer 1  ·  27.3 M params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tricks   ·   Dice + BCE with invalid-pixel masking   ·   AMP (fp16)   ·   gradient clipping (max-norm 1.0)   ·   early stopping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Held-out Test Set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chips across 10 countries  ·  IoU is the headline metric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77240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653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331720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36829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(ResNet-34)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682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3682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3682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3682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23682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7772400" cy="685800"/>
          </a:xfrm>
          <a:prstGeom prst="rect">
            <a:avLst/>
          </a:prstGeom>
          <a:solidFill>
            <a:srgbClr val="4FB6CA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62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(MiT-B2)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296265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296265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96265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0.8111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296265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296265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 = best result.   Evaluation excludes invalid (label = −1) pixels.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1828800"/>
            <a:ext cx="2926080" cy="4434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1828800"/>
            <a:ext cx="292608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SegFormer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91540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0.668</a:t>
            </a:r>
            <a:endParaRPr lang="en-US" sz="6000" dirty="0"/>
          </a:p>
        </p:txBody>
      </p:sp>
      <p:sp>
        <p:nvSpPr>
          <p:cNvPr id="35" name="Text 33"/>
          <p:cNvSpPr/>
          <p:nvPr/>
        </p:nvSpPr>
        <p:spPr>
          <a:xfrm>
            <a:off x="891540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IoU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15400" y="47548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takes the lead on every metric except precision, where U-Net is a hair ahead.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4617720"/>
            <a:ext cx="7772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617720"/>
            <a:ext cx="109728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4754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8680" y="50749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deep models clear an IoU of 0.64 — comfortably better than what the threshold rule alone would deliver. The two architectures are within 2 points of each other, which suggests the gap between U-Net and SegFormer is not the most interesting part of the story.  The next slide is.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Generalisation — The Bolivia 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models, completely unseen country  ·  this is where the story gets interesting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 from Sentinel-1 SAR  ·  Sen1Floods11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5168" y="182880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168" y="1828800"/>
            <a:ext cx="530352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208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(ResNet-34)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5208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5208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0.6456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29688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Bolivia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9688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0.4808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29888" y="2606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−16.5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129888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points lost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5208" y="3840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convolutions over-fit the training distribution. A new country shifts the look of the imagery enough to cost double-digit IoU.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182880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3008" y="1828800"/>
            <a:ext cx="530352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3048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SegFormer (MiT-B2)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53048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3048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0.6680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107528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Bolivia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07528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0.6828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707728" y="2606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+ 1.5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707728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points gained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53048" y="3840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Bolivia IoU actually exceeds test IoU. Global self-attention captures wider spatial context that travels across geographies.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10881360" cy="10515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285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SegFormer travel better?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6509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reasons about distant pixels jointly — flooded river, surrounding terrain, and neighbouring vegetation all influence each prediction. CNN receptive fields stay local and miss the wider context.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80215" y="0"/>
            <a:ext cx="73152" cy="685800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3367" y="0"/>
            <a:ext cx="338328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64592" cy="411480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yourself — three models, side-by-side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6858000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6858000" cy="109728"/>
          </a:xfrm>
          <a:prstGeom prst="rect">
            <a:avLst/>
          </a:prstGeom>
          <a:solidFill>
            <a:srgbClr val="4FB6CA"/>
          </a:solidFill>
          <a:ln w="12700">
            <a:solidFill>
              <a:srgbClr val="4FB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LIVE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Sen1Floods11 Segmentation Demo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curated test chips — best, worst, and average cases across 7 countries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any  _S1Hand.tif  chip from Sen1Floods11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Side-by-side threshold / U-Net / SegFormer predictions and error maps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IoU, F1, Precision, Recall  for direct head-to-head comparison</a:t>
            </a:r>
            <a:endParaRPr lang="en-US" sz="13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914400" y="5669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u="sng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hardikkamboj-sen1floods11-segmentation-appapp-jni2fg.streamlit.app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Artefacts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0" y="33375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337560"/>
            <a:ext cx="10972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7" name="Text 15">
            <a:hlinkClick r:id="rId2" tooltip=""/>
          </p:cNvPr>
          <p:cNvSpPr/>
          <p:nvPr/>
        </p:nvSpPr>
        <p:spPr>
          <a:xfrm>
            <a:off x="804672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repo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420624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4206240"/>
            <a:ext cx="10972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8046720" y="4535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U-Net weights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50749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5074920"/>
            <a:ext cx="10972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148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25" name="Text 23">
            <a:hlinkClick r:id="rId4" tooltip=""/>
          </p:cNvPr>
          <p:cNvSpPr/>
          <p:nvPr/>
        </p:nvSpPr>
        <p:spPr>
          <a:xfrm>
            <a:off x="8046720" y="5404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SegFormer weights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 Kamboj  ·  University of Maryland  ·  CMSC 605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2026-04-27T18:05:09Z</dcterms:created>
  <dcterms:modified xsi:type="dcterms:W3CDTF">2026-04-27T18:05:09Z</dcterms:modified>
</cp:coreProperties>
</file>